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charts/chart2.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633"/>
    <p:restoredTop sz="73396"/>
  </p:normalViewPr>
  <p:slideViewPr>
    <p:cSldViewPr snapToGrid="0" snapToObjects="1">
      <p:cViewPr varScale="1">
        <p:scale>
          <a:sx n="115" d="100"/>
          <a:sy n="115" d="100"/>
        </p:scale>
        <p:origin x="1448" y="192"/>
      </p:cViewPr>
      <p:guideLst/>
    </p:cSldViewPr>
  </p:slideViewPr>
  <p:outlineViewPr>
    <p:cViewPr>
      <p:scale>
        <a:sx n="33" d="100"/>
        <a:sy n="33" d="100"/>
      </p:scale>
      <p:origin x="0" y="0"/>
    </p:cViewPr>
  </p:outlineViewPr>
  <p:notesTextViewPr>
    <p:cViewPr>
      <p:scale>
        <a:sx n="170" d="100"/>
        <a:sy n="170" d="100"/>
      </p:scale>
      <p:origin x="0" y="-496"/>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Test R²</c:v>
                </c:pt>
              </c:strCache>
            </c:strRef>
          </c:tx>
          <c:spPr>
            <a:solidFill>
              <a:srgbClr val="C0504D"/>
            </a:solidFill>
            <a:effectLst/>
          </c:spPr>
          <c:invertIfNegative val="0"/>
          <c:cat>
            <c:strRef>
              <c:f>Sheet1!$A$2:$A$6</c:f>
              <c:strCache>
                <c:ptCount val="5"/>
                <c:pt idx="0">
                  <c:v>Poly2+Ridge</c:v>
                </c:pt>
                <c:pt idx="1">
                  <c:v>Poly2+Lasso</c:v>
                </c:pt>
                <c:pt idx="2">
                  <c:v>Lasso</c:v>
                </c:pt>
                <c:pt idx="3">
                  <c:v>LinearReg</c:v>
                </c:pt>
                <c:pt idx="4">
                  <c:v>Ridge</c:v>
                </c:pt>
              </c:strCache>
            </c:strRef>
          </c:cat>
          <c:val>
            <c:numRef>
              <c:f>Sheet1!$B$2:$B$6</c:f>
              <c:numCache>
                <c:formatCode>General</c:formatCode>
                <c:ptCount val="5"/>
                <c:pt idx="0">
                  <c:v>0.99970000000000003</c:v>
                </c:pt>
                <c:pt idx="1">
                  <c:v>0.99950000000000006</c:v>
                </c:pt>
                <c:pt idx="2">
                  <c:v>0.99860000000000004</c:v>
                </c:pt>
                <c:pt idx="3">
                  <c:v>0.99860000000000004</c:v>
                </c:pt>
                <c:pt idx="4">
                  <c:v>0.99850000000000005</c:v>
                </c:pt>
              </c:numCache>
            </c:numRef>
          </c:val>
          <c:extLst>
            <c:ext xmlns:c16="http://schemas.microsoft.com/office/drawing/2014/chart" uri="{C3380CC4-5D6E-409C-BE32-E72D297353CC}">
              <c16:uniqueId val="{00000000-5F82-E741-8855-4F3F550B647E}"/>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rot="2700000"/>
          <a:lstStyle/>
          <a:p>
            <a:pPr>
              <a:defRPr sz="1200" b="0" i="0" u="none" strike="noStrike">
                <a:solidFill>
                  <a:srgbClr val="000000"/>
                </a:solidFill>
                <a:latin typeface="Arial"/>
              </a:defRPr>
            </a:pPr>
            <a:endParaRPr lang="en-US"/>
          </a:p>
        </c:txPr>
        <c:crossAx val="2094734552"/>
        <c:crosses val="autoZero"/>
        <c:auto val="1"/>
        <c:lblAlgn val="ctr"/>
        <c:lblOffset val="100"/>
        <c:noMultiLvlLbl val="1"/>
      </c:catAx>
      <c:valAx>
        <c:axId val="2094734552"/>
        <c:scaling>
          <c:orientation val="minMax"/>
          <c:max val="1"/>
          <c:min val="0.99"/>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Accuracy</c:v>
                </c:pt>
              </c:strCache>
            </c:strRef>
          </c:tx>
          <c:spPr>
            <a:solidFill>
              <a:srgbClr val="C0504D"/>
            </a:solidFill>
            <a:effectLst/>
          </c:spPr>
          <c:invertIfNegative val="0"/>
          <c:cat>
            <c:strRef>
              <c:f>Sheet1!$A$2:$A$3</c:f>
              <c:strCache>
                <c:ptCount val="2"/>
                <c:pt idx="0">
                  <c:v>LogReg</c:v>
                </c:pt>
                <c:pt idx="1">
                  <c:v>Tuned SVM</c:v>
                </c:pt>
              </c:strCache>
            </c:strRef>
          </c:cat>
          <c:val>
            <c:numRef>
              <c:f>Sheet1!$B$2:$B$3</c:f>
              <c:numCache>
                <c:formatCode>General</c:formatCode>
                <c:ptCount val="2"/>
                <c:pt idx="0">
                  <c:v>0.98250000000000004</c:v>
                </c:pt>
                <c:pt idx="1">
                  <c:v>0.98250000000000004</c:v>
                </c:pt>
              </c:numCache>
            </c:numRef>
          </c:val>
          <c:extLst>
            <c:ext xmlns:c16="http://schemas.microsoft.com/office/drawing/2014/chart" uri="{C3380CC4-5D6E-409C-BE32-E72D297353CC}">
              <c16:uniqueId val="{00000000-BB39-B742-9DCE-F8BB2D8BEEF7}"/>
            </c:ext>
          </c:extLst>
        </c:ser>
        <c:ser>
          <c:idx val="1"/>
          <c:order val="1"/>
          <c:tx>
            <c:strRef>
              <c:f>Sheet1!$C$1</c:f>
              <c:strCache>
                <c:ptCount val="1"/>
                <c:pt idx="0">
                  <c:v>AUC</c:v>
                </c:pt>
              </c:strCache>
            </c:strRef>
          </c:tx>
          <c:spPr>
            <a:solidFill>
              <a:srgbClr val="4F81BD"/>
            </a:solidFill>
            <a:effectLst/>
          </c:spPr>
          <c:invertIfNegative val="0"/>
          <c:cat>
            <c:strRef>
              <c:f>Sheet1!$A$2:$A$3</c:f>
              <c:strCache>
                <c:ptCount val="2"/>
                <c:pt idx="0">
                  <c:v>LogReg</c:v>
                </c:pt>
                <c:pt idx="1">
                  <c:v>Tuned SVM</c:v>
                </c:pt>
              </c:strCache>
            </c:strRef>
          </c:cat>
          <c:val>
            <c:numRef>
              <c:f>Sheet1!$C$2:$C$3</c:f>
              <c:numCache>
                <c:formatCode>General</c:formatCode>
                <c:ptCount val="2"/>
                <c:pt idx="0">
                  <c:v>0.99539999999999995</c:v>
                </c:pt>
                <c:pt idx="1">
                  <c:v>0.997</c:v>
                </c:pt>
              </c:numCache>
            </c:numRef>
          </c:val>
          <c:extLst>
            <c:ext xmlns:c16="http://schemas.microsoft.com/office/drawing/2014/chart" uri="{C3380CC4-5D6E-409C-BE32-E72D297353CC}">
              <c16:uniqueId val="{00000001-BB39-B742-9DCE-F8BB2D8BEEF7}"/>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lblOffset val="100"/>
        <c:noMultiLvlLbl val="1"/>
      </c:catAx>
      <c:valAx>
        <c:axId val="2094734552"/>
        <c:scaling>
          <c:orientation val="minMax"/>
          <c:max val="1"/>
          <c:min val="0.9"/>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r"/>
      <c:overlay val="0"/>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985136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dirty="0"/>
          </a:p>
          <a:p>
            <a:endParaRPr lang="en-US" b="0" dirty="0"/>
          </a:p>
          <a:p>
            <a:r>
              <a:rPr lang="en-US" b="0" dirty="0"/>
              <a:t>Hello everyone, my name is Aryan, and this presentation summarizes my final project for the </a:t>
            </a:r>
            <a:r>
              <a:rPr lang="en-US" b="0" i="1" dirty="0"/>
              <a:t>Advanced Big Data and Data Mining</a:t>
            </a:r>
            <a:r>
              <a:rPr lang="en-US" b="0" dirty="0"/>
              <a:t> course.</a:t>
            </a:r>
          </a:p>
          <a:p>
            <a:r>
              <a:rPr lang="en-US" b="0" dirty="0"/>
              <a:t>The project uses the Breast Cancer Wisconsin Diagnostic dataset and covers all four deliverables—from data exploration and modeling to final insights, ethical considerations, and recommendations.</a:t>
            </a:r>
          </a:p>
          <a:p>
            <a:r>
              <a:rPr lang="en-US" b="0" dirty="0"/>
              <a:t>I’ll briefly walk you through the dataset, the main methods I used, the key results, and how these findings can be applied responsibly in a healthcare setting.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dirty="0"/>
          </a:p>
          <a:p>
            <a:endParaRPr lang="en-US" b="0" dirty="0"/>
          </a:p>
          <a:p>
            <a:r>
              <a:rPr lang="en-US" b="0" dirty="0"/>
              <a:t>This project uses the Breast Cancer Wisconsin Diagnostic dataset, which includes 569 samples and 30 numeric features based on cell nucleus measurements from biopsy images.</a:t>
            </a:r>
          </a:p>
          <a:p>
            <a:r>
              <a:rPr lang="en-US" b="0" dirty="0"/>
              <a:t>Each case is labeled as malignant or benign.</a:t>
            </a:r>
          </a:p>
          <a:p>
            <a:r>
              <a:rPr lang="en-US" b="0" dirty="0"/>
              <a:t>The goal was not only to build accurate prediction models, but also to understand and explain patterns in the data using different data mining techniques.</a:t>
            </a:r>
          </a:p>
          <a:p>
            <a:r>
              <a:rPr lang="en-US" b="0" dirty="0"/>
              <a:t>To achieve this, I followed a complete workflow that included data cleaning and exploration, feature engineering, regression, classification, clustering, and association rule mining.</a:t>
            </a:r>
          </a:p>
          <a:p>
            <a:r>
              <a:rPr lang="en-US" b="0" dirty="0"/>
              <a:t>The project was completed in four deliverables.</a:t>
            </a:r>
          </a:p>
          <a:p>
            <a:r>
              <a:rPr lang="en-US" b="0" dirty="0"/>
              <a:t>Deliverable 1 focused on data cleaning and EDA, where I found clear class separation and strong feature relationships.</a:t>
            </a:r>
          </a:p>
          <a:p>
            <a:r>
              <a:rPr lang="en-US" b="0" dirty="0"/>
              <a:t>Deliverable 2 involved regression modeling to predict mean area, with polynomial ridge regression performing the best.</a:t>
            </a:r>
          </a:p>
          <a:p>
            <a:r>
              <a:rPr lang="en-US" b="0" dirty="0"/>
              <a:t>Deliverable 3 included classification using a tuned SVM, clustering with K-Means, and association rule mining to extract interpretable patterns.</a:t>
            </a:r>
          </a:p>
          <a:p>
            <a:endParaRPr lang="en-US" b="0"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dirty="0"/>
          </a:p>
          <a:p>
            <a:endParaRPr lang="en-US" b="0" dirty="0"/>
          </a:p>
          <a:p>
            <a:r>
              <a:rPr lang="en-US" b="0" dirty="0"/>
              <a:t>During exploratory analysis, I found that the dataset was clean, with no missing values or duplicate records.</a:t>
            </a:r>
          </a:p>
          <a:p>
            <a:r>
              <a:rPr lang="en-US" b="0" dirty="0"/>
              <a:t>Several size and texture-based features, such as mean radius and mean area, showed clear differences between malignant and benign cases.</a:t>
            </a:r>
          </a:p>
          <a:p>
            <a:r>
              <a:rPr lang="en-US" b="0" dirty="0"/>
              <a:t>However, some features were highly related to each other, especially radius, perimeter, and area, which can cause issues in modeling.</a:t>
            </a:r>
          </a:p>
          <a:p>
            <a:r>
              <a:rPr lang="en-US" b="0" dirty="0"/>
              <a:t>To handle this, I created two new features—</a:t>
            </a:r>
            <a:r>
              <a:rPr lang="en-US" b="0" dirty="0" err="1"/>
              <a:t>radius_area_ratio</a:t>
            </a:r>
            <a:r>
              <a:rPr lang="en-US" b="0" dirty="0"/>
              <a:t> and </a:t>
            </a:r>
            <a:r>
              <a:rPr lang="en-US" b="0" dirty="0" err="1"/>
              <a:t>compactness_by_smoothness</a:t>
            </a:r>
            <a:r>
              <a:rPr lang="en-US" b="0" dirty="0"/>
              <a:t>—to capture useful information while reducing redundancy.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dirty="0"/>
          </a:p>
          <a:p>
            <a:endParaRPr lang="en-US" b="0" dirty="0"/>
          </a:p>
          <a:p>
            <a:r>
              <a:rPr lang="en-US" b="0" dirty="0"/>
              <a:t>In Deliverable 2, I built a regression model to predict mean area using the other features.</a:t>
            </a:r>
          </a:p>
          <a:p>
            <a:r>
              <a:rPr lang="en-US" b="0" dirty="0"/>
              <a:t>I tested several approaches, including Linear Regression, Ridge, Lasso, and polynomial versions of Ridge and Lasso.</a:t>
            </a:r>
          </a:p>
          <a:p>
            <a:r>
              <a:rPr lang="en-US" b="0" dirty="0"/>
              <a:t>The best model was Polynomial Ridge Regression, which gave the highest R-squared value and the lowest prediction error.</a:t>
            </a:r>
          </a:p>
          <a:p>
            <a:r>
              <a:rPr lang="en-US" b="0" dirty="0"/>
              <a:t>This shows that using regularization helps control overlapping features, while polynomial terms allow the model to capture small non-linear patterns in the data.</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dirty="0"/>
          </a:p>
          <a:p>
            <a:endParaRPr lang="en-US" b="0" dirty="0"/>
          </a:p>
          <a:p>
            <a:r>
              <a:rPr lang="en-US" b="0" dirty="0"/>
              <a:t>For classification, I compared Logistic Regression with a Support Vector Machine, or SVM.</a:t>
            </a:r>
          </a:p>
          <a:p>
            <a:r>
              <a:rPr lang="en-US" b="0" dirty="0"/>
              <a:t>The SVM was fine-tuned using </a:t>
            </a:r>
            <a:r>
              <a:rPr lang="en-US" b="0" dirty="0" err="1"/>
              <a:t>GridSearchCV</a:t>
            </a:r>
            <a:r>
              <a:rPr lang="en-US" b="0" dirty="0"/>
              <a:t> by testing different values for the C and gamma parameters.</a:t>
            </a:r>
          </a:p>
          <a:p>
            <a:r>
              <a:rPr lang="en-US" b="0" dirty="0"/>
              <a:t>Both models performed well, but the tuned SVM showed a slightly higher AUC, meaning it did a better job overall at separating malignant and benign cases.</a:t>
            </a:r>
          </a:p>
          <a:p>
            <a:r>
              <a:rPr lang="en-US" b="0" dirty="0"/>
              <a:t>The ROC curve helps show the balance between correctly identifying cancer cases and avoiding false alarms, which is very important in medical screening.</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dirty="0"/>
          </a:p>
          <a:p>
            <a:endParaRPr lang="en-US" b="0" dirty="0"/>
          </a:p>
          <a:p>
            <a:r>
              <a:rPr lang="en-US" b="0" dirty="0"/>
              <a:t>I also used K-Means clustering with two clusters to explore the structure of the data without using the diagnosis labels.</a:t>
            </a:r>
          </a:p>
          <a:p>
            <a:r>
              <a:rPr lang="en-US" b="0" dirty="0"/>
              <a:t>Even though clustering is an unsupervised method, the groups formed by the model roughly matched the malignant and benign cases.</a:t>
            </a:r>
          </a:p>
          <a:p>
            <a:r>
              <a:rPr lang="en-US" b="0" dirty="0"/>
              <a:t>I used PCA to visualize the clusters in two dimensions, which helped confirm that the data has meaningful patterns and structure.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dirty="0"/>
          </a:p>
          <a:p>
            <a:endParaRPr lang="en-US" b="0" dirty="0"/>
          </a:p>
          <a:p>
            <a:r>
              <a:rPr lang="en-US" b="0" dirty="0"/>
              <a:t>To make the results easier to understand, I used association rule mining.</a:t>
            </a:r>
          </a:p>
          <a:p>
            <a:r>
              <a:rPr lang="en-US" b="0" dirty="0"/>
              <a:t>I turned some numerical features into simple high and low categories using the median value, and then looked at patterns based on how often they occur and how strongly they are related.</a:t>
            </a:r>
          </a:p>
          <a:p>
            <a:r>
              <a:rPr lang="en-US" b="0" dirty="0"/>
              <a:t>One clear result was that higher radius values are often linked to malignant cases, while lower radius and texture values are more common in benign cases.</a:t>
            </a:r>
          </a:p>
          <a:p>
            <a:r>
              <a:rPr lang="en-US" b="0" dirty="0"/>
              <a:t>These patterns are easy to interpret and help explain the results from the predictive models.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dirty="0"/>
          </a:p>
          <a:p>
            <a:endParaRPr lang="en-US" b="0" dirty="0"/>
          </a:p>
          <a:p>
            <a:r>
              <a:rPr lang="en-US" b="0" dirty="0"/>
              <a:t>From a practical point of view, I recommend using the tuned SVM as a decision-support tool, with carefully chosen thresholds to reduce clinical risk.</a:t>
            </a:r>
          </a:p>
          <a:p>
            <a:r>
              <a:rPr lang="en-US" b="0" dirty="0"/>
              <a:t>Adding rule-based explanations alongside predictions helps improve transparency and trust.</a:t>
            </a:r>
          </a:p>
          <a:p>
            <a:r>
              <a:rPr lang="en-US" b="0" dirty="0"/>
              <a:t>From an ethical perspective, the dataset is anonymized and contains no personal information, but there is still a risk of bias because it may not represent all populations equally.</a:t>
            </a:r>
          </a:p>
          <a:p>
            <a:r>
              <a:rPr lang="en-US" b="0" dirty="0"/>
              <a:t>These models should support, not replace, clinical decisions, and should be tested on external datasets before real-world use.</a:t>
            </a:r>
          </a:p>
          <a:p>
            <a:r>
              <a:rPr lang="en-US" b="0" dirty="0"/>
              <a:t>The main takeaway from this project is that combining strong predictive models, like SVMs, with interpretable techniques, such as association rules, leads to both high accuracy and better understanding.</a:t>
            </a:r>
          </a:p>
          <a:p>
            <a:r>
              <a:rPr lang="en-US" b="0" dirty="0"/>
              <a:t>Future work includes external validation, model calibration, fairness checks, and testing on real-world healthcare data.</a:t>
            </a:r>
          </a:p>
          <a:p>
            <a:endParaRPr lang="en-US" b="0"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2000" cy="7213600"/>
          </a:xfrm>
          <a:prstGeom prst="rect">
            <a:avLst/>
          </a:prstGeom>
          <a:solidFill>
            <a:srgbClr val="FFFFFF"/>
          </a:solidFill>
          <a:ln/>
        </p:spPr>
        <p:txBody>
          <a:bodyPr/>
          <a:lstStyle/>
          <a:p>
            <a:endParaRPr lang="en-US"/>
          </a:p>
        </p:txBody>
      </p:sp>
      <p:sp>
        <p:nvSpPr>
          <p:cNvPr id="3" name="Text 1"/>
          <p:cNvSpPr/>
          <p:nvPr/>
        </p:nvSpPr>
        <p:spPr>
          <a:xfrm>
            <a:off x="731520" y="2011680"/>
            <a:ext cx="10698480" cy="731520"/>
          </a:xfrm>
          <a:prstGeom prst="rect">
            <a:avLst/>
          </a:prstGeom>
          <a:noFill/>
          <a:ln/>
        </p:spPr>
        <p:txBody>
          <a:bodyPr wrap="square" rtlCol="0" anchor="ctr"/>
          <a:lstStyle/>
          <a:p>
            <a:pPr marL="0" indent="0">
              <a:buNone/>
            </a:pPr>
            <a:r>
              <a:rPr lang="en-US" sz="4000" b="1" dirty="0">
                <a:solidFill>
                  <a:srgbClr val="111827"/>
                </a:solidFill>
                <a:latin typeface="Calibri" pitchFamily="34" charset="0"/>
                <a:ea typeface="Calibri" pitchFamily="34" charset="-122"/>
                <a:cs typeface="Calibri" pitchFamily="34" charset="-120"/>
              </a:rPr>
              <a:t>Advanced Data Mining Final Project</a:t>
            </a:r>
            <a:endParaRPr lang="en-US" sz="4000" dirty="0"/>
          </a:p>
        </p:txBody>
      </p:sp>
      <p:sp>
        <p:nvSpPr>
          <p:cNvPr id="4" name="Text 2"/>
          <p:cNvSpPr/>
          <p:nvPr/>
        </p:nvSpPr>
        <p:spPr>
          <a:xfrm>
            <a:off x="731520" y="2834640"/>
            <a:ext cx="10698480" cy="365760"/>
          </a:xfrm>
          <a:prstGeom prst="rect">
            <a:avLst/>
          </a:prstGeom>
          <a:noFill/>
          <a:ln/>
        </p:spPr>
        <p:txBody>
          <a:bodyPr wrap="square" rtlCol="0" anchor="ctr"/>
          <a:lstStyle/>
          <a:p>
            <a:pPr marL="0" indent="0">
              <a:buNone/>
            </a:pPr>
            <a:r>
              <a:rPr lang="en-US" sz="1800" dirty="0">
                <a:solidFill>
                  <a:srgbClr val="374151"/>
                </a:solidFill>
                <a:latin typeface="Calibri" pitchFamily="34" charset="0"/>
                <a:ea typeface="Calibri" pitchFamily="34" charset="-122"/>
                <a:cs typeface="Calibri" pitchFamily="34" charset="-120"/>
              </a:rPr>
              <a:t>Breast Cancer Wisconsin (Diagnostic) — Deliverables 1–4</a:t>
            </a:r>
            <a:endParaRPr lang="en-US" sz="1800" dirty="0"/>
          </a:p>
        </p:txBody>
      </p:sp>
      <p:sp>
        <p:nvSpPr>
          <p:cNvPr id="5" name="Text 3"/>
          <p:cNvSpPr/>
          <p:nvPr/>
        </p:nvSpPr>
        <p:spPr>
          <a:xfrm>
            <a:off x="731520" y="3383280"/>
            <a:ext cx="10698480" cy="960120"/>
          </a:xfrm>
          <a:prstGeom prst="rect">
            <a:avLst/>
          </a:prstGeom>
          <a:noFill/>
          <a:ln/>
        </p:spPr>
        <p:txBody>
          <a:bodyPr wrap="square" rtlCol="0" anchor="ctr"/>
          <a:lstStyle/>
          <a:p>
            <a:pPr marL="0" indent="0">
              <a:buNone/>
            </a:pPr>
            <a:r>
              <a:rPr lang="en-US" sz="1600" dirty="0">
                <a:solidFill>
                  <a:srgbClr val="374151"/>
                </a:solidFill>
                <a:latin typeface="Calibri" pitchFamily="34" charset="0"/>
                <a:ea typeface="Calibri" pitchFamily="34" charset="-122"/>
                <a:cs typeface="Calibri" pitchFamily="34" charset="-120"/>
              </a:rPr>
              <a:t>Aryan Shrestha </a:t>
            </a:r>
          </a:p>
          <a:p>
            <a:pPr marL="0" indent="0">
              <a:buNone/>
            </a:pPr>
            <a:r>
              <a:rPr lang="en-US" sz="1600" dirty="0">
                <a:solidFill>
                  <a:srgbClr val="374151"/>
                </a:solidFill>
                <a:latin typeface="Calibri" pitchFamily="34" charset="0"/>
                <a:ea typeface="Calibri" pitchFamily="34" charset="-122"/>
                <a:cs typeface="Calibri" pitchFamily="34" charset="-120"/>
              </a:rPr>
              <a:t>MSCS-634</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777240"/>
          </a:xfrm>
          <a:prstGeom prst="rect">
            <a:avLst/>
          </a:prstGeom>
          <a:solidFill>
            <a:srgbClr val="F3F4F6"/>
          </a:solidFill>
          <a:ln/>
        </p:spPr>
        <p:txBody>
          <a:bodyPr/>
          <a:lstStyle/>
          <a:p>
            <a:endParaRPr lang="en-US"/>
          </a:p>
        </p:txBody>
      </p:sp>
      <p:sp>
        <p:nvSpPr>
          <p:cNvPr id="3" name="Text 1"/>
          <p:cNvSpPr/>
          <p:nvPr/>
        </p:nvSpPr>
        <p:spPr>
          <a:xfrm>
            <a:off x="502920" y="164592"/>
            <a:ext cx="11247120" cy="320040"/>
          </a:xfrm>
          <a:prstGeom prst="rect">
            <a:avLst/>
          </a:prstGeom>
          <a:noFill/>
          <a:ln/>
        </p:spPr>
        <p:txBody>
          <a:bodyPr wrap="square" rtlCol="0" anchor="ctr"/>
          <a:lstStyle/>
          <a:p>
            <a:pPr marL="0" indent="0">
              <a:buNone/>
            </a:pPr>
            <a:r>
              <a:rPr lang="en-US" sz="2400" b="1" dirty="0">
                <a:solidFill>
                  <a:srgbClr val="111827"/>
                </a:solidFill>
                <a:latin typeface="Calibri" pitchFamily="34" charset="0"/>
                <a:ea typeface="Calibri" pitchFamily="34" charset="-122"/>
                <a:cs typeface="Calibri" pitchFamily="34" charset="-120"/>
              </a:rPr>
              <a:t>Dataset &amp; Project Goals</a:t>
            </a:r>
            <a:endParaRPr lang="en-US" sz="2400" dirty="0"/>
          </a:p>
        </p:txBody>
      </p:sp>
      <p:sp>
        <p:nvSpPr>
          <p:cNvPr id="4" name="Text 2"/>
          <p:cNvSpPr/>
          <p:nvPr/>
        </p:nvSpPr>
        <p:spPr>
          <a:xfrm>
            <a:off x="502920" y="502920"/>
            <a:ext cx="11247120" cy="228600"/>
          </a:xfrm>
          <a:prstGeom prst="rect">
            <a:avLst/>
          </a:prstGeom>
          <a:noFill/>
          <a:ln/>
        </p:spPr>
        <p:txBody>
          <a:bodyPr wrap="square" rtlCol="0" anchor="ctr"/>
          <a:lstStyle/>
          <a:p>
            <a:pPr marL="0" indent="0">
              <a:buNone/>
            </a:pPr>
            <a:r>
              <a:rPr lang="en-US" sz="1300" dirty="0">
                <a:solidFill>
                  <a:srgbClr val="374151"/>
                </a:solidFill>
                <a:latin typeface="Calibri" pitchFamily="34" charset="0"/>
                <a:ea typeface="Calibri" pitchFamily="34" charset="-122"/>
                <a:cs typeface="Calibri" pitchFamily="34" charset="-120"/>
              </a:rPr>
              <a:t>What we’re solving and why this dataset is a good fit</a:t>
            </a:r>
            <a:endParaRPr lang="en-US" sz="1300" dirty="0"/>
          </a:p>
        </p:txBody>
      </p:sp>
      <p:sp>
        <p:nvSpPr>
          <p:cNvPr id="5" name="Text 3"/>
          <p:cNvSpPr/>
          <p:nvPr/>
        </p:nvSpPr>
        <p:spPr>
          <a:xfrm>
            <a:off x="731520" y="1143000"/>
            <a:ext cx="10972800" cy="2743200"/>
          </a:xfrm>
          <a:prstGeom prst="rect">
            <a:avLst/>
          </a:prstGeom>
          <a:noFill/>
          <a:ln/>
        </p:spPr>
        <p:txBody>
          <a:bodyPr wrap="square" rtlCol="0" anchor="ctr"/>
          <a:lstStyle/>
          <a:p>
            <a:pPr marL="228600" indent="-228600">
              <a:spcAft>
                <a:spcPts val="600"/>
              </a:spcAft>
              <a:buSzPct val="100000"/>
              <a:buChar char="•"/>
            </a:pPr>
            <a:r>
              <a:rPr lang="en-US" sz="1600" dirty="0">
                <a:solidFill>
                  <a:srgbClr val="111827"/>
                </a:solidFill>
                <a:latin typeface="Calibri" pitchFamily="34" charset="0"/>
                <a:ea typeface="Calibri" pitchFamily="34" charset="-122"/>
                <a:cs typeface="Calibri" pitchFamily="34" charset="-120"/>
              </a:rPr>
              <a:t>Dataset: Breast Cancer Wisconsin (Diagnostic) — 569 samples, 30 numeric features, binary diagnosis.</a:t>
            </a:r>
            <a:endParaRPr lang="en-US" sz="1600" dirty="0"/>
          </a:p>
          <a:p>
            <a:pPr marL="228600" indent="-228600">
              <a:spcAft>
                <a:spcPts val="600"/>
              </a:spcAft>
              <a:buSzPct val="100000"/>
              <a:buChar char="•"/>
            </a:pPr>
            <a:r>
              <a:rPr lang="en-US" sz="1600" dirty="0">
                <a:solidFill>
                  <a:srgbClr val="111827"/>
                </a:solidFill>
                <a:latin typeface="Calibri" pitchFamily="34" charset="0"/>
                <a:ea typeface="Calibri" pitchFamily="34" charset="-122"/>
                <a:cs typeface="Calibri" pitchFamily="34" charset="-120"/>
              </a:rPr>
              <a:t>Goal: derive data-driven insights and build predictive + interpretable models.</a:t>
            </a:r>
            <a:endParaRPr lang="en-US" sz="1600" dirty="0"/>
          </a:p>
          <a:p>
            <a:pPr marL="228600" indent="-228600">
              <a:spcAft>
                <a:spcPts val="600"/>
              </a:spcAft>
              <a:buSzPct val="100000"/>
              <a:buChar char="•"/>
            </a:pPr>
            <a:r>
              <a:rPr lang="en-US" sz="1600" dirty="0">
                <a:solidFill>
                  <a:srgbClr val="111827"/>
                </a:solidFill>
                <a:latin typeface="Calibri" pitchFamily="34" charset="0"/>
                <a:ea typeface="Calibri" pitchFamily="34" charset="-122"/>
                <a:cs typeface="Calibri" pitchFamily="34" charset="-120"/>
              </a:rPr>
              <a:t>Workflow: preprocessing &amp; EDA → feature engineering → regression → classification → clustering → pattern mining.</a:t>
            </a:r>
            <a:endParaRPr lang="en-US" sz="1600" dirty="0"/>
          </a:p>
        </p:txBody>
      </p:sp>
      <p:sp>
        <p:nvSpPr>
          <p:cNvPr id="6" name="Shape 4"/>
          <p:cNvSpPr/>
          <p:nvPr/>
        </p:nvSpPr>
        <p:spPr>
          <a:xfrm>
            <a:off x="822960" y="4114800"/>
            <a:ext cx="10789920" cy="2011680"/>
          </a:xfrm>
          <a:prstGeom prst="roundRect">
            <a:avLst/>
          </a:prstGeom>
          <a:solidFill>
            <a:srgbClr val="FFFFFF"/>
          </a:solidFill>
          <a:ln w="12700">
            <a:solidFill>
              <a:srgbClr val="D1D5DB"/>
            </a:solidFill>
            <a:prstDash val="solid"/>
          </a:ln>
          <a:effectLst>
            <a:outerShdw blurRad="38100" dist="25400" dir="2700000" algn="bl" rotWithShape="0">
              <a:srgbClr val="000000">
                <a:alpha val="15000"/>
              </a:srgbClr>
            </a:outerShdw>
          </a:effectLst>
        </p:spPr>
        <p:txBody>
          <a:bodyPr/>
          <a:lstStyle/>
          <a:p>
            <a:endParaRPr lang="en-US"/>
          </a:p>
        </p:txBody>
      </p:sp>
      <p:sp>
        <p:nvSpPr>
          <p:cNvPr id="7" name="Text 5"/>
          <p:cNvSpPr/>
          <p:nvPr/>
        </p:nvSpPr>
        <p:spPr>
          <a:xfrm>
            <a:off x="1005840" y="4389120"/>
            <a:ext cx="10241280" cy="320040"/>
          </a:xfrm>
          <a:prstGeom prst="rect">
            <a:avLst/>
          </a:prstGeom>
          <a:noFill/>
          <a:ln/>
        </p:spPr>
        <p:txBody>
          <a:bodyPr wrap="square" rtlCol="0" anchor="ctr"/>
          <a:lstStyle/>
          <a:p>
            <a:pPr marL="0" indent="0">
              <a:buNone/>
            </a:pPr>
            <a:r>
              <a:rPr lang="en-US" sz="1800" b="1" dirty="0">
                <a:solidFill>
                  <a:srgbClr val="111827"/>
                </a:solidFill>
                <a:latin typeface="Calibri" pitchFamily="34" charset="0"/>
                <a:ea typeface="Calibri" pitchFamily="34" charset="-122"/>
                <a:cs typeface="Calibri" pitchFamily="34" charset="-120"/>
              </a:rPr>
              <a:t>Deliverables Summary</a:t>
            </a:r>
            <a:endParaRPr lang="en-US" sz="1800" dirty="0"/>
          </a:p>
        </p:txBody>
      </p:sp>
      <p:sp>
        <p:nvSpPr>
          <p:cNvPr id="8" name="Text 6"/>
          <p:cNvSpPr/>
          <p:nvPr/>
        </p:nvSpPr>
        <p:spPr>
          <a:xfrm>
            <a:off x="1005840" y="4754880"/>
            <a:ext cx="10241280" cy="1371600"/>
          </a:xfrm>
          <a:prstGeom prst="rect">
            <a:avLst/>
          </a:prstGeom>
          <a:noFill/>
          <a:ln/>
        </p:spPr>
        <p:txBody>
          <a:bodyPr wrap="square" rtlCol="0" anchor="ctr"/>
          <a:lstStyle/>
          <a:p>
            <a:pPr marL="228600" indent="-228600">
              <a:spcAft>
                <a:spcPts val="600"/>
              </a:spcAft>
              <a:buSzPct val="100000"/>
              <a:buChar char="•"/>
            </a:pPr>
            <a:r>
              <a:rPr lang="en-US" sz="1600" dirty="0">
                <a:solidFill>
                  <a:srgbClr val="111827"/>
                </a:solidFill>
                <a:latin typeface="Calibri" pitchFamily="34" charset="0"/>
                <a:ea typeface="Calibri" pitchFamily="34" charset="-122"/>
                <a:cs typeface="Calibri" pitchFamily="34" charset="-120"/>
              </a:rPr>
              <a:t>D1: Clean data + EDA (class separation, multicollinearity)</a:t>
            </a:r>
            <a:endParaRPr lang="en-US" sz="1600" dirty="0"/>
          </a:p>
          <a:p>
            <a:pPr marL="228600" indent="-228600">
              <a:spcAft>
                <a:spcPts val="600"/>
              </a:spcAft>
              <a:buSzPct val="100000"/>
              <a:buChar char="•"/>
            </a:pPr>
            <a:r>
              <a:rPr lang="en-US" sz="1600" dirty="0">
                <a:solidFill>
                  <a:srgbClr val="111827"/>
                </a:solidFill>
                <a:latin typeface="Calibri" pitchFamily="34" charset="0"/>
                <a:ea typeface="Calibri" pitchFamily="34" charset="-122"/>
                <a:cs typeface="Calibri" pitchFamily="34" charset="-120"/>
              </a:rPr>
              <a:t>D2: Regression (predict mean area; best: polynomial ridge)</a:t>
            </a:r>
            <a:endParaRPr lang="en-US" sz="1600" dirty="0"/>
          </a:p>
          <a:p>
            <a:pPr marL="228600" indent="-228600">
              <a:spcAft>
                <a:spcPts val="600"/>
              </a:spcAft>
              <a:buSzPct val="100000"/>
              <a:buChar char="•"/>
            </a:pPr>
            <a:r>
              <a:rPr lang="en-US" sz="1600" dirty="0">
                <a:solidFill>
                  <a:srgbClr val="111827"/>
                </a:solidFill>
                <a:latin typeface="Calibri" pitchFamily="34" charset="0"/>
                <a:ea typeface="Calibri" pitchFamily="34" charset="-122"/>
                <a:cs typeface="Calibri" pitchFamily="34" charset="-120"/>
              </a:rPr>
              <a:t>D3: Classification (tuned SVM), clustering (k-means), association rules (interpretable patterns)</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777240"/>
          </a:xfrm>
          <a:prstGeom prst="rect">
            <a:avLst/>
          </a:prstGeom>
          <a:solidFill>
            <a:srgbClr val="F3F4F6"/>
          </a:solidFill>
          <a:ln/>
        </p:spPr>
        <p:txBody>
          <a:bodyPr/>
          <a:lstStyle/>
          <a:p>
            <a:endParaRPr lang="en-US"/>
          </a:p>
        </p:txBody>
      </p:sp>
      <p:sp>
        <p:nvSpPr>
          <p:cNvPr id="3" name="Text 1"/>
          <p:cNvSpPr/>
          <p:nvPr/>
        </p:nvSpPr>
        <p:spPr>
          <a:xfrm>
            <a:off x="502920" y="164592"/>
            <a:ext cx="11247120" cy="320040"/>
          </a:xfrm>
          <a:prstGeom prst="rect">
            <a:avLst/>
          </a:prstGeom>
          <a:noFill/>
          <a:ln/>
        </p:spPr>
        <p:txBody>
          <a:bodyPr wrap="square" rtlCol="0" anchor="ctr"/>
          <a:lstStyle/>
          <a:p>
            <a:pPr marL="0" indent="0">
              <a:buNone/>
            </a:pPr>
            <a:r>
              <a:rPr lang="en-US" sz="2400" b="1" dirty="0">
                <a:solidFill>
                  <a:srgbClr val="111827"/>
                </a:solidFill>
                <a:latin typeface="Calibri" pitchFamily="34" charset="0"/>
                <a:ea typeface="Calibri" pitchFamily="34" charset="-122"/>
                <a:cs typeface="Calibri" pitchFamily="34" charset="-120"/>
              </a:rPr>
              <a:t>EDA &amp; Feature Engineering</a:t>
            </a:r>
            <a:endParaRPr lang="en-US" sz="2400" dirty="0"/>
          </a:p>
        </p:txBody>
      </p:sp>
      <p:sp>
        <p:nvSpPr>
          <p:cNvPr id="4" name="Text 2"/>
          <p:cNvSpPr/>
          <p:nvPr/>
        </p:nvSpPr>
        <p:spPr>
          <a:xfrm>
            <a:off x="502920" y="502920"/>
            <a:ext cx="11247120" cy="228600"/>
          </a:xfrm>
          <a:prstGeom prst="rect">
            <a:avLst/>
          </a:prstGeom>
          <a:noFill/>
          <a:ln/>
        </p:spPr>
        <p:txBody>
          <a:bodyPr wrap="square" rtlCol="0" anchor="ctr"/>
          <a:lstStyle/>
          <a:p>
            <a:pPr marL="0" indent="0">
              <a:buNone/>
            </a:pPr>
            <a:r>
              <a:rPr lang="en-US" sz="1300" dirty="0">
                <a:solidFill>
                  <a:srgbClr val="374151"/>
                </a:solidFill>
                <a:latin typeface="Calibri" pitchFamily="34" charset="0"/>
                <a:ea typeface="Calibri" pitchFamily="34" charset="-122"/>
                <a:cs typeface="Calibri" pitchFamily="34" charset="-120"/>
              </a:rPr>
              <a:t>What the data told us before modeling</a:t>
            </a:r>
            <a:endParaRPr lang="en-US" sz="1300" dirty="0"/>
          </a:p>
        </p:txBody>
      </p:sp>
      <p:sp>
        <p:nvSpPr>
          <p:cNvPr id="5" name="Text 3"/>
          <p:cNvSpPr/>
          <p:nvPr/>
        </p:nvSpPr>
        <p:spPr>
          <a:xfrm>
            <a:off x="731520" y="1143000"/>
            <a:ext cx="5486400" cy="2560320"/>
          </a:xfrm>
          <a:prstGeom prst="rect">
            <a:avLst/>
          </a:prstGeom>
          <a:noFill/>
          <a:ln/>
        </p:spPr>
        <p:txBody>
          <a:bodyPr wrap="square" rtlCol="0" anchor="ctr"/>
          <a:lstStyle/>
          <a:p>
            <a:pPr marL="228600" indent="-228600">
              <a:spcAft>
                <a:spcPts val="600"/>
              </a:spcAft>
              <a:buSzPct val="100000"/>
              <a:buChar char="•"/>
            </a:pPr>
            <a:r>
              <a:rPr lang="en-US" sz="1600" dirty="0">
                <a:solidFill>
                  <a:srgbClr val="111827"/>
                </a:solidFill>
                <a:latin typeface="Calibri" pitchFamily="34" charset="0"/>
                <a:ea typeface="Calibri" pitchFamily="34" charset="-122"/>
                <a:cs typeface="Calibri" pitchFamily="34" charset="-120"/>
              </a:rPr>
              <a:t>No missing values / duplicates detected.</a:t>
            </a:r>
            <a:endParaRPr lang="en-US" sz="1600" dirty="0"/>
          </a:p>
          <a:p>
            <a:pPr marL="228600" indent="-228600">
              <a:spcAft>
                <a:spcPts val="600"/>
              </a:spcAft>
              <a:buSzPct val="100000"/>
              <a:buChar char="•"/>
            </a:pPr>
            <a:r>
              <a:rPr lang="en-US" sz="1600" dirty="0">
                <a:solidFill>
                  <a:srgbClr val="111827"/>
                </a:solidFill>
                <a:latin typeface="Calibri" pitchFamily="34" charset="0"/>
                <a:ea typeface="Calibri" pitchFamily="34" charset="-122"/>
                <a:cs typeface="Calibri" pitchFamily="34" charset="-120"/>
              </a:rPr>
              <a:t>Strong separation in size/texture features (e.g., mean radius, mean area).</a:t>
            </a:r>
            <a:endParaRPr lang="en-US" sz="1600" dirty="0"/>
          </a:p>
          <a:p>
            <a:pPr marL="228600" indent="-228600">
              <a:spcAft>
                <a:spcPts val="600"/>
              </a:spcAft>
              <a:buSzPct val="100000"/>
              <a:buChar char="•"/>
            </a:pPr>
            <a:r>
              <a:rPr lang="en-US" sz="1600" dirty="0">
                <a:solidFill>
                  <a:srgbClr val="111827"/>
                </a:solidFill>
                <a:latin typeface="Calibri" pitchFamily="34" charset="0"/>
                <a:ea typeface="Calibri" pitchFamily="34" charset="-122"/>
                <a:cs typeface="Calibri" pitchFamily="34" charset="-120"/>
              </a:rPr>
              <a:t>High correlations among radius, perimeter, area → multicollinearity.</a:t>
            </a:r>
            <a:endParaRPr lang="en-US" sz="1600" dirty="0"/>
          </a:p>
          <a:p>
            <a:pPr marL="228600" indent="-228600">
              <a:spcAft>
                <a:spcPts val="600"/>
              </a:spcAft>
              <a:buSzPct val="100000"/>
              <a:buChar char="•"/>
            </a:pPr>
            <a:r>
              <a:rPr lang="en-US" sz="1600" dirty="0">
                <a:solidFill>
                  <a:srgbClr val="111827"/>
                </a:solidFill>
                <a:latin typeface="Calibri" pitchFamily="34" charset="0"/>
                <a:ea typeface="Calibri" pitchFamily="34" charset="-122"/>
                <a:cs typeface="Calibri" pitchFamily="34" charset="-120"/>
              </a:rPr>
              <a:t>Engineered features: radius_area_ratio and compactness_by_smoothness.</a:t>
            </a:r>
            <a:endParaRPr lang="en-US" sz="1600" dirty="0"/>
          </a:p>
        </p:txBody>
      </p:sp>
      <p:sp>
        <p:nvSpPr>
          <p:cNvPr id="6" name="Shape 4"/>
          <p:cNvSpPr/>
          <p:nvPr/>
        </p:nvSpPr>
        <p:spPr>
          <a:xfrm>
            <a:off x="6400800" y="1143000"/>
            <a:ext cx="5120640" cy="5303520"/>
          </a:xfrm>
          <a:prstGeom prst="rect">
            <a:avLst/>
          </a:prstGeom>
          <a:solidFill>
            <a:srgbClr val="FFFFFF"/>
          </a:solidFill>
          <a:ln w="12700">
            <a:solidFill>
              <a:srgbClr val="D1D5DB"/>
            </a:solidFill>
            <a:prstDash val="solid"/>
          </a:ln>
        </p:spPr>
        <p:txBody>
          <a:bodyPr/>
          <a:lstStyle/>
          <a:p>
            <a:endParaRPr lang="en-US"/>
          </a:p>
        </p:txBody>
      </p:sp>
      <p:pic>
        <p:nvPicPr>
          <p:cNvPr id="7" name="Image 0" descr="/mnt/data/MSCS_634_Project/figures/corr_heatmap.png"/>
          <p:cNvPicPr>
            <a:picLocks noChangeAspect="1"/>
          </p:cNvPicPr>
          <p:nvPr/>
        </p:nvPicPr>
        <p:blipFill>
          <a:blip r:embed="rId3"/>
          <a:stretch>
            <a:fillRect/>
          </a:stretch>
        </p:blipFill>
        <p:spPr>
          <a:xfrm>
            <a:off x="6492240" y="1889370"/>
            <a:ext cx="4937760" cy="381078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777240"/>
          </a:xfrm>
          <a:prstGeom prst="rect">
            <a:avLst/>
          </a:prstGeom>
          <a:solidFill>
            <a:srgbClr val="F3F4F6"/>
          </a:solidFill>
          <a:ln/>
        </p:spPr>
        <p:txBody>
          <a:bodyPr/>
          <a:lstStyle/>
          <a:p>
            <a:endParaRPr lang="en-US"/>
          </a:p>
        </p:txBody>
      </p:sp>
      <p:sp>
        <p:nvSpPr>
          <p:cNvPr id="3" name="Text 1"/>
          <p:cNvSpPr/>
          <p:nvPr/>
        </p:nvSpPr>
        <p:spPr>
          <a:xfrm>
            <a:off x="502920" y="164592"/>
            <a:ext cx="11247120" cy="320040"/>
          </a:xfrm>
          <a:prstGeom prst="rect">
            <a:avLst/>
          </a:prstGeom>
          <a:noFill/>
          <a:ln/>
        </p:spPr>
        <p:txBody>
          <a:bodyPr wrap="square" rtlCol="0" anchor="ctr"/>
          <a:lstStyle/>
          <a:p>
            <a:pPr marL="0" indent="0">
              <a:buNone/>
            </a:pPr>
            <a:r>
              <a:rPr lang="en-US" sz="2400" b="1" dirty="0">
                <a:solidFill>
                  <a:srgbClr val="111827"/>
                </a:solidFill>
                <a:latin typeface="Calibri" pitchFamily="34" charset="0"/>
                <a:ea typeface="Calibri" pitchFamily="34" charset="-122"/>
                <a:cs typeface="Calibri" pitchFamily="34" charset="-120"/>
              </a:rPr>
              <a:t>Regression (Deliverable 2)</a:t>
            </a:r>
            <a:endParaRPr lang="en-US" sz="2400" dirty="0"/>
          </a:p>
        </p:txBody>
      </p:sp>
      <p:sp>
        <p:nvSpPr>
          <p:cNvPr id="4" name="Text 2"/>
          <p:cNvSpPr/>
          <p:nvPr/>
        </p:nvSpPr>
        <p:spPr>
          <a:xfrm>
            <a:off x="502920" y="502920"/>
            <a:ext cx="11247120" cy="228600"/>
          </a:xfrm>
          <a:prstGeom prst="rect">
            <a:avLst/>
          </a:prstGeom>
          <a:noFill/>
          <a:ln/>
        </p:spPr>
        <p:txBody>
          <a:bodyPr wrap="square" rtlCol="0" anchor="ctr"/>
          <a:lstStyle/>
          <a:p>
            <a:pPr marL="0" indent="0">
              <a:buNone/>
            </a:pPr>
            <a:r>
              <a:rPr lang="en-US" sz="1300" dirty="0">
                <a:solidFill>
                  <a:srgbClr val="374151"/>
                </a:solidFill>
                <a:latin typeface="Calibri" pitchFamily="34" charset="0"/>
                <a:ea typeface="Calibri" pitchFamily="34" charset="-122"/>
                <a:cs typeface="Calibri" pitchFamily="34" charset="-120"/>
              </a:rPr>
              <a:t>Predicting mean area from other features</a:t>
            </a:r>
            <a:endParaRPr lang="en-US" sz="1300" dirty="0"/>
          </a:p>
        </p:txBody>
      </p:sp>
      <p:sp>
        <p:nvSpPr>
          <p:cNvPr id="5" name="Text 3"/>
          <p:cNvSpPr/>
          <p:nvPr/>
        </p:nvSpPr>
        <p:spPr>
          <a:xfrm>
            <a:off x="731520" y="1143000"/>
            <a:ext cx="5394960" cy="1554480"/>
          </a:xfrm>
          <a:prstGeom prst="rect">
            <a:avLst/>
          </a:prstGeom>
          <a:noFill/>
          <a:ln/>
        </p:spPr>
        <p:txBody>
          <a:bodyPr wrap="square" rtlCol="0" anchor="ctr"/>
          <a:lstStyle/>
          <a:p>
            <a:pPr marL="228600" indent="-228600">
              <a:spcAft>
                <a:spcPts val="600"/>
              </a:spcAft>
              <a:buSzPct val="100000"/>
              <a:buChar char="•"/>
            </a:pPr>
            <a:r>
              <a:rPr lang="en-US" sz="1600" dirty="0">
                <a:solidFill>
                  <a:srgbClr val="111827"/>
                </a:solidFill>
                <a:latin typeface="Calibri" pitchFamily="34" charset="0"/>
                <a:ea typeface="Calibri" pitchFamily="34" charset="-122"/>
                <a:cs typeface="Calibri" pitchFamily="34" charset="-120"/>
              </a:rPr>
              <a:t>Compared Linear, Ridge, Lasso, Poly2+Ridge, Poly2+Lasso.</a:t>
            </a:r>
            <a:endParaRPr lang="en-US" sz="1600" dirty="0"/>
          </a:p>
          <a:p>
            <a:pPr marL="228600" indent="-228600">
              <a:spcAft>
                <a:spcPts val="600"/>
              </a:spcAft>
              <a:buSzPct val="100000"/>
              <a:buChar char="•"/>
            </a:pPr>
            <a:r>
              <a:rPr lang="en-US" sz="1600" dirty="0">
                <a:solidFill>
                  <a:srgbClr val="111827"/>
                </a:solidFill>
                <a:latin typeface="Calibri" pitchFamily="34" charset="0"/>
                <a:ea typeface="Calibri" pitchFamily="34" charset="-122"/>
                <a:cs typeface="Calibri" pitchFamily="34" charset="-120"/>
              </a:rPr>
              <a:t>Best model: Poly2+Ridge (highest R², lowest error).</a:t>
            </a:r>
            <a:endParaRPr lang="en-US" sz="1600" dirty="0"/>
          </a:p>
          <a:p>
            <a:pPr marL="228600" indent="-228600">
              <a:spcAft>
                <a:spcPts val="600"/>
              </a:spcAft>
              <a:buSzPct val="100000"/>
              <a:buChar char="•"/>
            </a:pPr>
            <a:r>
              <a:rPr lang="en-US" sz="1600" dirty="0">
                <a:solidFill>
                  <a:srgbClr val="111827"/>
                </a:solidFill>
                <a:latin typeface="Calibri" pitchFamily="34" charset="0"/>
                <a:ea typeface="Calibri" pitchFamily="34" charset="-122"/>
                <a:cs typeface="Calibri" pitchFamily="34" charset="-120"/>
              </a:rPr>
              <a:t>Regularization helps with multicollinearity; polynomial terms capture mild nonlinearity.</a:t>
            </a:r>
            <a:endParaRPr lang="en-US" sz="1600" dirty="0"/>
          </a:p>
        </p:txBody>
      </p:sp>
      <p:graphicFrame>
        <p:nvGraphicFramePr>
          <p:cNvPr id="6" name="Chart 0"/>
          <p:cNvGraphicFramePr/>
          <p:nvPr/>
        </p:nvGraphicFramePr>
        <p:xfrm>
          <a:off x="731520" y="2834640"/>
          <a:ext cx="5669280"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7" name="Shape 4"/>
          <p:cNvSpPr/>
          <p:nvPr/>
        </p:nvSpPr>
        <p:spPr>
          <a:xfrm>
            <a:off x="6766560" y="1143000"/>
            <a:ext cx="4754880" cy="5257800"/>
          </a:xfrm>
          <a:prstGeom prst="rect">
            <a:avLst/>
          </a:prstGeom>
          <a:solidFill>
            <a:srgbClr val="FFFFFF"/>
          </a:solidFill>
          <a:ln w="12700">
            <a:solidFill>
              <a:srgbClr val="D1D5DB"/>
            </a:solidFill>
            <a:prstDash val="solid"/>
          </a:ln>
        </p:spPr>
        <p:txBody>
          <a:bodyPr/>
          <a:lstStyle/>
          <a:p>
            <a:endParaRPr lang="en-US"/>
          </a:p>
        </p:txBody>
      </p:sp>
      <p:pic>
        <p:nvPicPr>
          <p:cNvPr id="8" name="Image 0" descr="/mnt/data/MSCS_634_Project/figures/reg_pred_vs_actual.png"/>
          <p:cNvPicPr>
            <a:picLocks noChangeAspect="1"/>
          </p:cNvPicPr>
          <p:nvPr/>
        </p:nvPicPr>
        <p:blipFill>
          <a:blip r:embed="rId4"/>
          <a:stretch>
            <a:fillRect/>
          </a:stretch>
        </p:blipFill>
        <p:spPr>
          <a:xfrm>
            <a:off x="6858000" y="2384227"/>
            <a:ext cx="4572000" cy="2775347"/>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777240"/>
          </a:xfrm>
          <a:prstGeom prst="rect">
            <a:avLst/>
          </a:prstGeom>
          <a:solidFill>
            <a:srgbClr val="F3F4F6"/>
          </a:solidFill>
          <a:ln/>
        </p:spPr>
        <p:txBody>
          <a:bodyPr/>
          <a:lstStyle/>
          <a:p>
            <a:endParaRPr lang="en-US"/>
          </a:p>
        </p:txBody>
      </p:sp>
      <p:sp>
        <p:nvSpPr>
          <p:cNvPr id="3" name="Text 1"/>
          <p:cNvSpPr/>
          <p:nvPr/>
        </p:nvSpPr>
        <p:spPr>
          <a:xfrm>
            <a:off x="502920" y="164592"/>
            <a:ext cx="11247120" cy="320040"/>
          </a:xfrm>
          <a:prstGeom prst="rect">
            <a:avLst/>
          </a:prstGeom>
          <a:noFill/>
          <a:ln/>
        </p:spPr>
        <p:txBody>
          <a:bodyPr wrap="square" rtlCol="0" anchor="ctr"/>
          <a:lstStyle/>
          <a:p>
            <a:pPr marL="0" indent="0">
              <a:buNone/>
            </a:pPr>
            <a:r>
              <a:rPr lang="en-US" sz="2400" b="1" dirty="0">
                <a:solidFill>
                  <a:srgbClr val="111827"/>
                </a:solidFill>
                <a:latin typeface="Calibri" pitchFamily="34" charset="0"/>
                <a:ea typeface="Calibri" pitchFamily="34" charset="-122"/>
                <a:cs typeface="Calibri" pitchFamily="34" charset="-120"/>
              </a:rPr>
              <a:t>Classification (Deliverable 3)</a:t>
            </a:r>
            <a:endParaRPr lang="en-US" sz="2400" dirty="0"/>
          </a:p>
        </p:txBody>
      </p:sp>
      <p:sp>
        <p:nvSpPr>
          <p:cNvPr id="4" name="Text 2"/>
          <p:cNvSpPr/>
          <p:nvPr/>
        </p:nvSpPr>
        <p:spPr>
          <a:xfrm>
            <a:off x="502920" y="502920"/>
            <a:ext cx="11247120" cy="228600"/>
          </a:xfrm>
          <a:prstGeom prst="rect">
            <a:avLst/>
          </a:prstGeom>
          <a:noFill/>
          <a:ln/>
        </p:spPr>
        <p:txBody>
          <a:bodyPr wrap="square" rtlCol="0" anchor="ctr"/>
          <a:lstStyle/>
          <a:p>
            <a:pPr marL="0" indent="0">
              <a:buNone/>
            </a:pPr>
            <a:r>
              <a:rPr lang="en-US" sz="1300" dirty="0">
                <a:solidFill>
                  <a:srgbClr val="374151"/>
                </a:solidFill>
                <a:latin typeface="Calibri" pitchFamily="34" charset="0"/>
                <a:ea typeface="Calibri" pitchFamily="34" charset="-122"/>
                <a:cs typeface="Calibri" pitchFamily="34" charset="-120"/>
              </a:rPr>
              <a:t>Logistic Regression vs tuned SVM (GridSearchCV)</a:t>
            </a:r>
            <a:endParaRPr lang="en-US" sz="1300" dirty="0"/>
          </a:p>
        </p:txBody>
      </p:sp>
      <p:sp>
        <p:nvSpPr>
          <p:cNvPr id="5" name="Text 3"/>
          <p:cNvSpPr/>
          <p:nvPr/>
        </p:nvSpPr>
        <p:spPr>
          <a:xfrm>
            <a:off x="731520" y="1143000"/>
            <a:ext cx="5394960" cy="1920240"/>
          </a:xfrm>
          <a:prstGeom prst="rect">
            <a:avLst/>
          </a:prstGeom>
          <a:noFill/>
          <a:ln/>
        </p:spPr>
        <p:txBody>
          <a:bodyPr wrap="square" rtlCol="0" anchor="ctr"/>
          <a:lstStyle/>
          <a:p>
            <a:pPr marL="228600" indent="-228600">
              <a:spcAft>
                <a:spcPts val="600"/>
              </a:spcAft>
              <a:buSzPct val="100000"/>
              <a:buChar char="•"/>
            </a:pPr>
            <a:r>
              <a:rPr lang="en-US" sz="1600" dirty="0">
                <a:solidFill>
                  <a:srgbClr val="111827"/>
                </a:solidFill>
                <a:latin typeface="Calibri" pitchFamily="34" charset="0"/>
                <a:ea typeface="Calibri" pitchFamily="34" charset="-122"/>
                <a:cs typeface="Calibri" pitchFamily="34" charset="-120"/>
              </a:rPr>
              <a:t>Tuned SVM uses RBF kernel; grid search over C and gamma.</a:t>
            </a:r>
            <a:endParaRPr lang="en-US" sz="1600" dirty="0"/>
          </a:p>
          <a:p>
            <a:pPr marL="228600" indent="-228600">
              <a:spcAft>
                <a:spcPts val="600"/>
              </a:spcAft>
              <a:buSzPct val="100000"/>
              <a:buChar char="•"/>
            </a:pPr>
            <a:r>
              <a:rPr lang="en-US" sz="1600" dirty="0">
                <a:solidFill>
                  <a:srgbClr val="111827"/>
                </a:solidFill>
                <a:latin typeface="Calibri" pitchFamily="34" charset="0"/>
                <a:ea typeface="Calibri" pitchFamily="34" charset="-122"/>
                <a:cs typeface="Calibri" pitchFamily="34" charset="-120"/>
              </a:rPr>
              <a:t>Both models achieved high test accuracy; SVM had slightly higher AUC.</a:t>
            </a:r>
            <a:endParaRPr lang="en-US" sz="1600" dirty="0"/>
          </a:p>
          <a:p>
            <a:pPr marL="228600" indent="-228600">
              <a:spcAft>
                <a:spcPts val="600"/>
              </a:spcAft>
              <a:buSzPct val="100000"/>
              <a:buChar char="•"/>
            </a:pPr>
            <a:r>
              <a:rPr lang="en-US" sz="1600" dirty="0">
                <a:solidFill>
                  <a:srgbClr val="111827"/>
                </a:solidFill>
                <a:latin typeface="Calibri" pitchFamily="34" charset="0"/>
                <a:ea typeface="Calibri" pitchFamily="34" charset="-122"/>
                <a:cs typeface="Calibri" pitchFamily="34" charset="-120"/>
              </a:rPr>
              <a:t>ROC curve illustrates sensitivity–specificity tradeoffs (important for medical screening).</a:t>
            </a:r>
            <a:endParaRPr lang="en-US" sz="1600" dirty="0"/>
          </a:p>
        </p:txBody>
      </p:sp>
      <p:graphicFrame>
        <p:nvGraphicFramePr>
          <p:cNvPr id="6" name="Chart 0"/>
          <p:cNvGraphicFramePr/>
          <p:nvPr/>
        </p:nvGraphicFramePr>
        <p:xfrm>
          <a:off x="731520" y="3291840"/>
          <a:ext cx="5669280" cy="3017520"/>
        </p:xfrm>
        <a:graphic>
          <a:graphicData uri="http://schemas.openxmlformats.org/drawingml/2006/chart">
            <c:chart xmlns:c="http://schemas.openxmlformats.org/drawingml/2006/chart" xmlns:r="http://schemas.openxmlformats.org/officeDocument/2006/relationships" r:id="rId3"/>
          </a:graphicData>
        </a:graphic>
      </p:graphicFrame>
      <p:sp>
        <p:nvSpPr>
          <p:cNvPr id="7" name="Shape 4"/>
          <p:cNvSpPr/>
          <p:nvPr/>
        </p:nvSpPr>
        <p:spPr>
          <a:xfrm>
            <a:off x="6766560" y="1143000"/>
            <a:ext cx="4754880" cy="2651760"/>
          </a:xfrm>
          <a:prstGeom prst="rect">
            <a:avLst/>
          </a:prstGeom>
          <a:solidFill>
            <a:srgbClr val="FFFFFF"/>
          </a:solidFill>
          <a:ln w="12700">
            <a:solidFill>
              <a:srgbClr val="D1D5DB"/>
            </a:solidFill>
            <a:prstDash val="solid"/>
          </a:ln>
        </p:spPr>
        <p:txBody>
          <a:bodyPr/>
          <a:lstStyle/>
          <a:p>
            <a:endParaRPr lang="en-US"/>
          </a:p>
        </p:txBody>
      </p:sp>
      <p:sp>
        <p:nvSpPr>
          <p:cNvPr id="8" name="Shape 5"/>
          <p:cNvSpPr/>
          <p:nvPr/>
        </p:nvSpPr>
        <p:spPr>
          <a:xfrm>
            <a:off x="6766560" y="3977640"/>
            <a:ext cx="4754880" cy="2651760"/>
          </a:xfrm>
          <a:prstGeom prst="rect">
            <a:avLst/>
          </a:prstGeom>
          <a:solidFill>
            <a:srgbClr val="FFFFFF"/>
          </a:solidFill>
          <a:ln w="12700">
            <a:solidFill>
              <a:srgbClr val="D1D5DB"/>
            </a:solidFill>
            <a:prstDash val="solid"/>
          </a:ln>
        </p:spPr>
        <p:txBody>
          <a:bodyPr/>
          <a:lstStyle/>
          <a:p>
            <a:endParaRPr lang="en-US"/>
          </a:p>
        </p:txBody>
      </p:sp>
      <p:pic>
        <p:nvPicPr>
          <p:cNvPr id="9" name="Image 0" descr="/mnt/data/MSCS_634_Project/figures/classification_roc.png"/>
          <p:cNvPicPr>
            <a:picLocks noChangeAspect="1"/>
          </p:cNvPicPr>
          <p:nvPr/>
        </p:nvPicPr>
        <p:blipFill>
          <a:blip r:embed="rId4"/>
          <a:stretch>
            <a:fillRect/>
          </a:stretch>
        </p:blipFill>
        <p:spPr>
          <a:xfrm>
            <a:off x="7110431" y="1234440"/>
            <a:ext cx="4067138" cy="2468880"/>
          </a:xfrm>
          <a:prstGeom prst="rect">
            <a:avLst/>
          </a:prstGeom>
        </p:spPr>
      </p:pic>
      <p:pic>
        <p:nvPicPr>
          <p:cNvPr id="10" name="Image 1" descr="/mnt/data/MSCS_634_Project/figures/confusion_matrix_svm.png"/>
          <p:cNvPicPr>
            <a:picLocks noChangeAspect="1"/>
          </p:cNvPicPr>
          <p:nvPr/>
        </p:nvPicPr>
        <p:blipFill>
          <a:blip r:embed="rId5"/>
          <a:stretch>
            <a:fillRect/>
          </a:stretch>
        </p:blipFill>
        <p:spPr>
          <a:xfrm>
            <a:off x="7112020" y="4069080"/>
            <a:ext cx="4063961" cy="246888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777240"/>
          </a:xfrm>
          <a:prstGeom prst="rect">
            <a:avLst/>
          </a:prstGeom>
          <a:solidFill>
            <a:srgbClr val="F3F4F6"/>
          </a:solidFill>
          <a:ln/>
        </p:spPr>
        <p:txBody>
          <a:bodyPr/>
          <a:lstStyle/>
          <a:p>
            <a:endParaRPr lang="en-US"/>
          </a:p>
        </p:txBody>
      </p:sp>
      <p:sp>
        <p:nvSpPr>
          <p:cNvPr id="3" name="Text 1"/>
          <p:cNvSpPr/>
          <p:nvPr/>
        </p:nvSpPr>
        <p:spPr>
          <a:xfrm>
            <a:off x="502920" y="164592"/>
            <a:ext cx="11247120" cy="320040"/>
          </a:xfrm>
          <a:prstGeom prst="rect">
            <a:avLst/>
          </a:prstGeom>
          <a:noFill/>
          <a:ln/>
        </p:spPr>
        <p:txBody>
          <a:bodyPr wrap="square" rtlCol="0" anchor="ctr"/>
          <a:lstStyle/>
          <a:p>
            <a:pPr marL="0" indent="0">
              <a:buNone/>
            </a:pPr>
            <a:r>
              <a:rPr lang="en-US" sz="2400" b="1" dirty="0">
                <a:solidFill>
                  <a:srgbClr val="111827"/>
                </a:solidFill>
                <a:latin typeface="Calibri" pitchFamily="34" charset="0"/>
                <a:ea typeface="Calibri" pitchFamily="34" charset="-122"/>
                <a:cs typeface="Calibri" pitchFamily="34" charset="-120"/>
              </a:rPr>
              <a:t>Clustering</a:t>
            </a:r>
            <a:endParaRPr lang="en-US" sz="2400" dirty="0"/>
          </a:p>
        </p:txBody>
      </p:sp>
      <p:sp>
        <p:nvSpPr>
          <p:cNvPr id="4" name="Text 2"/>
          <p:cNvSpPr/>
          <p:nvPr/>
        </p:nvSpPr>
        <p:spPr>
          <a:xfrm>
            <a:off x="502920" y="502920"/>
            <a:ext cx="11247120" cy="228600"/>
          </a:xfrm>
          <a:prstGeom prst="rect">
            <a:avLst/>
          </a:prstGeom>
          <a:noFill/>
          <a:ln/>
        </p:spPr>
        <p:txBody>
          <a:bodyPr wrap="square" rtlCol="0" anchor="ctr"/>
          <a:lstStyle/>
          <a:p>
            <a:pPr marL="0" indent="0">
              <a:buNone/>
            </a:pPr>
            <a:r>
              <a:rPr lang="en-US" sz="1300" dirty="0">
                <a:solidFill>
                  <a:srgbClr val="374151"/>
                </a:solidFill>
                <a:latin typeface="Calibri" pitchFamily="34" charset="0"/>
                <a:ea typeface="Calibri" pitchFamily="34" charset="-122"/>
                <a:cs typeface="Calibri" pitchFamily="34" charset="-120"/>
              </a:rPr>
              <a:t>K-Means (k=2) + PCA visualization</a:t>
            </a:r>
            <a:endParaRPr lang="en-US" sz="1300" dirty="0"/>
          </a:p>
        </p:txBody>
      </p:sp>
      <p:sp>
        <p:nvSpPr>
          <p:cNvPr id="5" name="Text 3"/>
          <p:cNvSpPr/>
          <p:nvPr/>
        </p:nvSpPr>
        <p:spPr>
          <a:xfrm>
            <a:off x="731520" y="1143000"/>
            <a:ext cx="5394960" cy="2103120"/>
          </a:xfrm>
          <a:prstGeom prst="rect">
            <a:avLst/>
          </a:prstGeom>
          <a:noFill/>
          <a:ln/>
        </p:spPr>
        <p:txBody>
          <a:bodyPr wrap="square" rtlCol="0" anchor="ctr"/>
          <a:lstStyle/>
          <a:p>
            <a:pPr marL="228600" indent="-228600">
              <a:spcAft>
                <a:spcPts val="600"/>
              </a:spcAft>
              <a:buSzPct val="100000"/>
              <a:buChar char="•"/>
            </a:pPr>
            <a:r>
              <a:rPr lang="en-US" sz="1600" dirty="0">
                <a:solidFill>
                  <a:srgbClr val="111827"/>
                </a:solidFill>
                <a:latin typeface="Calibri" pitchFamily="34" charset="0"/>
                <a:ea typeface="Calibri" pitchFamily="34" charset="-122"/>
                <a:cs typeface="Calibri" pitchFamily="34" charset="-120"/>
              </a:rPr>
              <a:t>Unsupervised clustering finds structure without diagnosis labels.</a:t>
            </a:r>
            <a:endParaRPr lang="en-US" sz="1600" dirty="0"/>
          </a:p>
          <a:p>
            <a:pPr marL="228600" indent="-228600">
              <a:spcAft>
                <a:spcPts val="600"/>
              </a:spcAft>
              <a:buSzPct val="100000"/>
              <a:buChar char="•"/>
            </a:pPr>
            <a:r>
              <a:rPr lang="en-US" sz="1600" dirty="0">
                <a:solidFill>
                  <a:srgbClr val="111827"/>
                </a:solidFill>
                <a:latin typeface="Calibri" pitchFamily="34" charset="0"/>
                <a:ea typeface="Calibri" pitchFamily="34" charset="-122"/>
                <a:cs typeface="Calibri" pitchFamily="34" charset="-120"/>
              </a:rPr>
              <a:t>K-Means with k=2 roughly aligns with malignant vs benign groups.</a:t>
            </a:r>
            <a:endParaRPr lang="en-US" sz="1600" dirty="0"/>
          </a:p>
          <a:p>
            <a:pPr marL="228600" indent="-228600">
              <a:spcAft>
                <a:spcPts val="600"/>
              </a:spcAft>
              <a:buSzPct val="100000"/>
              <a:buChar char="•"/>
            </a:pPr>
            <a:r>
              <a:rPr lang="en-US" sz="1600" dirty="0">
                <a:solidFill>
                  <a:srgbClr val="111827"/>
                </a:solidFill>
                <a:latin typeface="Calibri" pitchFamily="34" charset="0"/>
                <a:ea typeface="Calibri" pitchFamily="34" charset="-122"/>
                <a:cs typeface="Calibri" pitchFamily="34" charset="-120"/>
              </a:rPr>
              <a:t>PCA projection helps visualize separation in 2D.</a:t>
            </a:r>
            <a:endParaRPr lang="en-US" sz="1600" dirty="0"/>
          </a:p>
        </p:txBody>
      </p:sp>
      <p:sp>
        <p:nvSpPr>
          <p:cNvPr id="6" name="Shape 4"/>
          <p:cNvSpPr/>
          <p:nvPr/>
        </p:nvSpPr>
        <p:spPr>
          <a:xfrm>
            <a:off x="6400800" y="1143000"/>
            <a:ext cx="5120640" cy="5303520"/>
          </a:xfrm>
          <a:prstGeom prst="rect">
            <a:avLst/>
          </a:prstGeom>
          <a:solidFill>
            <a:srgbClr val="FFFFFF"/>
          </a:solidFill>
          <a:ln w="12700">
            <a:solidFill>
              <a:srgbClr val="D1D5DB"/>
            </a:solidFill>
            <a:prstDash val="solid"/>
          </a:ln>
        </p:spPr>
        <p:txBody>
          <a:bodyPr/>
          <a:lstStyle/>
          <a:p>
            <a:endParaRPr lang="en-US"/>
          </a:p>
        </p:txBody>
      </p:sp>
      <p:pic>
        <p:nvPicPr>
          <p:cNvPr id="7" name="Image 0" descr="/mnt/data/MSCS_634_Project/figures/clustering_kmeans_pca.png"/>
          <p:cNvPicPr>
            <a:picLocks noChangeAspect="1"/>
          </p:cNvPicPr>
          <p:nvPr/>
        </p:nvPicPr>
        <p:blipFill>
          <a:blip r:embed="rId3"/>
          <a:stretch>
            <a:fillRect/>
          </a:stretch>
        </p:blipFill>
        <p:spPr>
          <a:xfrm>
            <a:off x="6492240" y="2294901"/>
            <a:ext cx="4937760" cy="299971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777240"/>
          </a:xfrm>
          <a:prstGeom prst="rect">
            <a:avLst/>
          </a:prstGeom>
          <a:solidFill>
            <a:srgbClr val="F3F4F6"/>
          </a:solidFill>
          <a:ln/>
        </p:spPr>
        <p:txBody>
          <a:bodyPr/>
          <a:lstStyle/>
          <a:p>
            <a:endParaRPr lang="en-US"/>
          </a:p>
        </p:txBody>
      </p:sp>
      <p:sp>
        <p:nvSpPr>
          <p:cNvPr id="3" name="Text 1"/>
          <p:cNvSpPr/>
          <p:nvPr/>
        </p:nvSpPr>
        <p:spPr>
          <a:xfrm>
            <a:off x="502920" y="164592"/>
            <a:ext cx="11247120" cy="320040"/>
          </a:xfrm>
          <a:prstGeom prst="rect">
            <a:avLst/>
          </a:prstGeom>
          <a:noFill/>
          <a:ln/>
        </p:spPr>
        <p:txBody>
          <a:bodyPr wrap="square" rtlCol="0" anchor="ctr"/>
          <a:lstStyle/>
          <a:p>
            <a:pPr marL="0" indent="0">
              <a:buNone/>
            </a:pPr>
            <a:r>
              <a:rPr lang="en-US" sz="2400" b="1" dirty="0">
                <a:solidFill>
                  <a:srgbClr val="111827"/>
                </a:solidFill>
                <a:latin typeface="Calibri" pitchFamily="34" charset="0"/>
                <a:ea typeface="Calibri" pitchFamily="34" charset="-122"/>
                <a:cs typeface="Calibri" pitchFamily="34" charset="-120"/>
              </a:rPr>
              <a:t>Pattern Mining (Association Rules)</a:t>
            </a:r>
            <a:endParaRPr lang="en-US" sz="2400" dirty="0"/>
          </a:p>
        </p:txBody>
      </p:sp>
      <p:sp>
        <p:nvSpPr>
          <p:cNvPr id="4" name="Text 2"/>
          <p:cNvSpPr/>
          <p:nvPr/>
        </p:nvSpPr>
        <p:spPr>
          <a:xfrm>
            <a:off x="502920" y="502920"/>
            <a:ext cx="11247120" cy="228600"/>
          </a:xfrm>
          <a:prstGeom prst="rect">
            <a:avLst/>
          </a:prstGeom>
          <a:noFill/>
          <a:ln/>
        </p:spPr>
        <p:txBody>
          <a:bodyPr wrap="square" rtlCol="0" anchor="ctr"/>
          <a:lstStyle/>
          <a:p>
            <a:pPr marL="0" indent="0">
              <a:buNone/>
            </a:pPr>
            <a:r>
              <a:rPr lang="en-US" sz="1300" dirty="0">
                <a:solidFill>
                  <a:srgbClr val="374151"/>
                </a:solidFill>
                <a:latin typeface="Calibri" pitchFamily="34" charset="0"/>
                <a:ea typeface="Calibri" pitchFamily="34" charset="-122"/>
                <a:cs typeface="Calibri" pitchFamily="34" charset="-120"/>
              </a:rPr>
              <a:t>Interpretable high/low feature combinations</a:t>
            </a:r>
            <a:endParaRPr lang="en-US" sz="1300" dirty="0"/>
          </a:p>
        </p:txBody>
      </p:sp>
      <p:sp>
        <p:nvSpPr>
          <p:cNvPr id="5" name="Text 3"/>
          <p:cNvSpPr/>
          <p:nvPr/>
        </p:nvSpPr>
        <p:spPr>
          <a:xfrm>
            <a:off x="731520" y="1143000"/>
            <a:ext cx="5394960" cy="2377440"/>
          </a:xfrm>
          <a:prstGeom prst="rect">
            <a:avLst/>
          </a:prstGeom>
          <a:noFill/>
          <a:ln/>
        </p:spPr>
        <p:txBody>
          <a:bodyPr wrap="square" rtlCol="0" anchor="ctr"/>
          <a:lstStyle/>
          <a:p>
            <a:pPr marL="228600" indent="-228600">
              <a:spcAft>
                <a:spcPts val="600"/>
              </a:spcAft>
              <a:buSzPct val="100000"/>
              <a:buChar char="•"/>
            </a:pPr>
            <a:r>
              <a:rPr lang="en-US" sz="1600" dirty="0">
                <a:solidFill>
                  <a:srgbClr val="111827"/>
                </a:solidFill>
                <a:latin typeface="Calibri" pitchFamily="34" charset="0"/>
                <a:ea typeface="Calibri" pitchFamily="34" charset="-122"/>
                <a:cs typeface="Calibri" pitchFamily="34" charset="-120"/>
              </a:rPr>
              <a:t>Continuous features were discretized into high/low bins (median split).</a:t>
            </a:r>
            <a:endParaRPr lang="en-US" sz="1600" dirty="0"/>
          </a:p>
          <a:p>
            <a:pPr marL="228600" indent="-228600">
              <a:spcAft>
                <a:spcPts val="600"/>
              </a:spcAft>
              <a:buSzPct val="100000"/>
              <a:buChar char="•"/>
            </a:pPr>
            <a:r>
              <a:rPr lang="en-US" sz="1600" dirty="0">
                <a:solidFill>
                  <a:srgbClr val="111827"/>
                </a:solidFill>
                <a:latin typeface="Calibri" pitchFamily="34" charset="0"/>
                <a:ea typeface="Calibri" pitchFamily="34" charset="-122"/>
                <a:cs typeface="Calibri" pitchFamily="34" charset="-120"/>
              </a:rPr>
              <a:t>Rules summarized using support, confidence, and lift.</a:t>
            </a:r>
            <a:endParaRPr lang="en-US" sz="1600" dirty="0"/>
          </a:p>
          <a:p>
            <a:pPr marL="228600" indent="-228600">
              <a:spcAft>
                <a:spcPts val="600"/>
              </a:spcAft>
              <a:buSzPct val="100000"/>
              <a:buChar char="•"/>
            </a:pPr>
            <a:r>
              <a:rPr lang="en-US" sz="1600" dirty="0">
                <a:solidFill>
                  <a:srgbClr val="111827"/>
                </a:solidFill>
                <a:latin typeface="Calibri" pitchFamily="34" charset="0"/>
                <a:ea typeface="Calibri" pitchFamily="34" charset="-122"/>
                <a:cs typeface="Calibri" pitchFamily="34" charset="-120"/>
              </a:rPr>
              <a:t>Example insight: high radius → higher likelihood of malignancy; low radius/texture → benign.</a:t>
            </a:r>
            <a:endParaRPr lang="en-US" sz="1600" dirty="0"/>
          </a:p>
        </p:txBody>
      </p:sp>
      <p:sp>
        <p:nvSpPr>
          <p:cNvPr id="6" name="Shape 4"/>
          <p:cNvSpPr/>
          <p:nvPr/>
        </p:nvSpPr>
        <p:spPr>
          <a:xfrm>
            <a:off x="6309360" y="1143000"/>
            <a:ext cx="5212080" cy="5303520"/>
          </a:xfrm>
          <a:prstGeom prst="rect">
            <a:avLst/>
          </a:prstGeom>
          <a:solidFill>
            <a:srgbClr val="FFFFFF"/>
          </a:solidFill>
          <a:ln w="12700">
            <a:solidFill>
              <a:srgbClr val="D1D5DB"/>
            </a:solidFill>
            <a:prstDash val="solid"/>
          </a:ln>
        </p:spPr>
        <p:txBody>
          <a:bodyPr/>
          <a:lstStyle/>
          <a:p>
            <a:endParaRPr lang="en-US"/>
          </a:p>
        </p:txBody>
      </p:sp>
      <p:pic>
        <p:nvPicPr>
          <p:cNvPr id="7" name="Image 0" descr="/mnt/data/MSCS_634_Project/figures/association_rules_top10.png"/>
          <p:cNvPicPr>
            <a:picLocks noChangeAspect="1"/>
          </p:cNvPicPr>
          <p:nvPr/>
        </p:nvPicPr>
        <p:blipFill>
          <a:blip r:embed="rId3"/>
          <a:stretch>
            <a:fillRect/>
          </a:stretch>
        </p:blipFill>
        <p:spPr>
          <a:xfrm>
            <a:off x="6400800" y="2968611"/>
            <a:ext cx="5029200" cy="165229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777240"/>
          </a:xfrm>
          <a:prstGeom prst="rect">
            <a:avLst/>
          </a:prstGeom>
          <a:solidFill>
            <a:srgbClr val="F3F4F6"/>
          </a:solidFill>
          <a:ln/>
        </p:spPr>
        <p:txBody>
          <a:bodyPr/>
          <a:lstStyle/>
          <a:p>
            <a:endParaRPr lang="en-US"/>
          </a:p>
        </p:txBody>
      </p:sp>
      <p:sp>
        <p:nvSpPr>
          <p:cNvPr id="3" name="Text 1"/>
          <p:cNvSpPr/>
          <p:nvPr/>
        </p:nvSpPr>
        <p:spPr>
          <a:xfrm>
            <a:off x="502920" y="164592"/>
            <a:ext cx="11247120" cy="320040"/>
          </a:xfrm>
          <a:prstGeom prst="rect">
            <a:avLst/>
          </a:prstGeom>
          <a:noFill/>
          <a:ln/>
        </p:spPr>
        <p:txBody>
          <a:bodyPr wrap="square" rtlCol="0" anchor="ctr"/>
          <a:lstStyle/>
          <a:p>
            <a:pPr marL="0" indent="0">
              <a:buNone/>
            </a:pPr>
            <a:r>
              <a:rPr lang="en-US" sz="2400" b="1" dirty="0">
                <a:solidFill>
                  <a:srgbClr val="111827"/>
                </a:solidFill>
                <a:latin typeface="Calibri" pitchFamily="34" charset="0"/>
                <a:ea typeface="Calibri" pitchFamily="34" charset="-122"/>
                <a:cs typeface="Calibri" pitchFamily="34" charset="-120"/>
              </a:rPr>
              <a:t>Ethics, Recommendations, Next Steps</a:t>
            </a:r>
            <a:endParaRPr lang="en-US" sz="2400" dirty="0"/>
          </a:p>
        </p:txBody>
      </p:sp>
      <p:sp>
        <p:nvSpPr>
          <p:cNvPr id="4" name="Text 2"/>
          <p:cNvSpPr/>
          <p:nvPr/>
        </p:nvSpPr>
        <p:spPr>
          <a:xfrm>
            <a:off x="502920" y="502920"/>
            <a:ext cx="11247120" cy="228600"/>
          </a:xfrm>
          <a:prstGeom prst="rect">
            <a:avLst/>
          </a:prstGeom>
          <a:noFill/>
          <a:ln/>
        </p:spPr>
        <p:txBody>
          <a:bodyPr wrap="square" rtlCol="0" anchor="ctr"/>
          <a:lstStyle/>
          <a:p>
            <a:pPr marL="0" indent="0">
              <a:buNone/>
            </a:pPr>
            <a:r>
              <a:rPr lang="en-US" sz="1300" dirty="0">
                <a:solidFill>
                  <a:srgbClr val="374151"/>
                </a:solidFill>
                <a:latin typeface="Calibri" pitchFamily="34" charset="0"/>
                <a:ea typeface="Calibri" pitchFamily="34" charset="-122"/>
                <a:cs typeface="Calibri" pitchFamily="34" charset="-120"/>
              </a:rPr>
              <a:t>How to use these results responsibly</a:t>
            </a:r>
            <a:endParaRPr lang="en-US" sz="1300" dirty="0"/>
          </a:p>
        </p:txBody>
      </p:sp>
      <p:sp>
        <p:nvSpPr>
          <p:cNvPr id="5" name="Text 3"/>
          <p:cNvSpPr/>
          <p:nvPr/>
        </p:nvSpPr>
        <p:spPr>
          <a:xfrm>
            <a:off x="731520" y="1143000"/>
            <a:ext cx="5486400" cy="320040"/>
          </a:xfrm>
          <a:prstGeom prst="rect">
            <a:avLst/>
          </a:prstGeom>
          <a:noFill/>
          <a:ln/>
        </p:spPr>
        <p:txBody>
          <a:bodyPr wrap="square" rtlCol="0" anchor="ctr"/>
          <a:lstStyle/>
          <a:p>
            <a:pPr marL="0" indent="0">
              <a:buNone/>
            </a:pPr>
            <a:r>
              <a:rPr lang="en-US" sz="1800" b="1" dirty="0">
                <a:solidFill>
                  <a:srgbClr val="111827"/>
                </a:solidFill>
                <a:latin typeface="Calibri" pitchFamily="34" charset="0"/>
                <a:ea typeface="Calibri" pitchFamily="34" charset="-122"/>
                <a:cs typeface="Calibri" pitchFamily="34" charset="-120"/>
              </a:rPr>
              <a:t>Recommendations</a:t>
            </a:r>
            <a:endParaRPr lang="en-US" sz="1800" dirty="0"/>
          </a:p>
        </p:txBody>
      </p:sp>
      <p:sp>
        <p:nvSpPr>
          <p:cNvPr id="6" name="Text 4"/>
          <p:cNvSpPr/>
          <p:nvPr/>
        </p:nvSpPr>
        <p:spPr>
          <a:xfrm>
            <a:off x="731520" y="1508760"/>
            <a:ext cx="5577840" cy="2011680"/>
          </a:xfrm>
          <a:prstGeom prst="rect">
            <a:avLst/>
          </a:prstGeom>
          <a:noFill/>
          <a:ln/>
        </p:spPr>
        <p:txBody>
          <a:bodyPr wrap="square" rtlCol="0" anchor="ctr"/>
          <a:lstStyle/>
          <a:p>
            <a:pPr marL="228600" indent="-228600">
              <a:spcAft>
                <a:spcPts val="600"/>
              </a:spcAft>
              <a:buSzPct val="100000"/>
              <a:buChar char="•"/>
            </a:pPr>
            <a:r>
              <a:rPr lang="en-US" sz="1600" dirty="0">
                <a:solidFill>
                  <a:srgbClr val="111827"/>
                </a:solidFill>
                <a:latin typeface="Calibri" pitchFamily="34" charset="0"/>
                <a:ea typeface="Calibri" pitchFamily="34" charset="-122"/>
                <a:cs typeface="Calibri" pitchFamily="34" charset="-120"/>
              </a:rPr>
              <a:t>Use tuned SVM as decision support with calibrated thresholds.</a:t>
            </a:r>
            <a:endParaRPr lang="en-US" sz="1600" dirty="0"/>
          </a:p>
          <a:p>
            <a:pPr marL="228600" indent="-228600">
              <a:spcAft>
                <a:spcPts val="600"/>
              </a:spcAft>
              <a:buSzPct val="100000"/>
              <a:buChar char="•"/>
            </a:pPr>
            <a:r>
              <a:rPr lang="en-US" sz="1600" dirty="0">
                <a:solidFill>
                  <a:srgbClr val="111827"/>
                </a:solidFill>
                <a:latin typeface="Calibri" pitchFamily="34" charset="0"/>
                <a:ea typeface="Calibri" pitchFamily="34" charset="-122"/>
                <a:cs typeface="Calibri" pitchFamily="34" charset="-120"/>
              </a:rPr>
              <a:t>Pair predictions with rule-based explanations for transparency.</a:t>
            </a:r>
            <a:endParaRPr lang="en-US" sz="1600" dirty="0"/>
          </a:p>
          <a:p>
            <a:pPr marL="228600" indent="-228600">
              <a:spcAft>
                <a:spcPts val="600"/>
              </a:spcAft>
              <a:buSzPct val="100000"/>
              <a:buChar char="•"/>
            </a:pPr>
            <a:r>
              <a:rPr lang="en-US" sz="1600" dirty="0">
                <a:solidFill>
                  <a:srgbClr val="111827"/>
                </a:solidFill>
                <a:latin typeface="Calibri" pitchFamily="34" charset="0"/>
                <a:ea typeface="Calibri" pitchFamily="34" charset="-122"/>
                <a:cs typeface="Calibri" pitchFamily="34" charset="-120"/>
              </a:rPr>
              <a:t>Validate on external cohorts before deployment.</a:t>
            </a:r>
            <a:endParaRPr lang="en-US" sz="1600" dirty="0"/>
          </a:p>
        </p:txBody>
      </p:sp>
      <p:sp>
        <p:nvSpPr>
          <p:cNvPr id="7" name="Text 5"/>
          <p:cNvSpPr/>
          <p:nvPr/>
        </p:nvSpPr>
        <p:spPr>
          <a:xfrm>
            <a:off x="731520" y="3749040"/>
            <a:ext cx="5486400" cy="320040"/>
          </a:xfrm>
          <a:prstGeom prst="rect">
            <a:avLst/>
          </a:prstGeom>
          <a:noFill/>
          <a:ln/>
        </p:spPr>
        <p:txBody>
          <a:bodyPr wrap="square" rtlCol="0" anchor="ctr"/>
          <a:lstStyle/>
          <a:p>
            <a:pPr marL="0" indent="0">
              <a:buNone/>
            </a:pPr>
            <a:r>
              <a:rPr lang="en-US" sz="1800" b="1" dirty="0">
                <a:solidFill>
                  <a:srgbClr val="111827"/>
                </a:solidFill>
                <a:latin typeface="Calibri" pitchFamily="34" charset="0"/>
                <a:ea typeface="Calibri" pitchFamily="34" charset="-122"/>
                <a:cs typeface="Calibri" pitchFamily="34" charset="-120"/>
              </a:rPr>
              <a:t>Ethical considerations</a:t>
            </a:r>
            <a:endParaRPr lang="en-US" sz="1800" dirty="0"/>
          </a:p>
        </p:txBody>
      </p:sp>
      <p:sp>
        <p:nvSpPr>
          <p:cNvPr id="8" name="Text 6"/>
          <p:cNvSpPr/>
          <p:nvPr/>
        </p:nvSpPr>
        <p:spPr>
          <a:xfrm>
            <a:off x="731520" y="4114800"/>
            <a:ext cx="5577840" cy="2011680"/>
          </a:xfrm>
          <a:prstGeom prst="rect">
            <a:avLst/>
          </a:prstGeom>
          <a:noFill/>
          <a:ln/>
        </p:spPr>
        <p:txBody>
          <a:bodyPr wrap="square" rtlCol="0" anchor="ctr"/>
          <a:lstStyle/>
          <a:p>
            <a:pPr marL="228600" indent="-228600">
              <a:spcAft>
                <a:spcPts val="600"/>
              </a:spcAft>
              <a:buSzPct val="100000"/>
              <a:buChar char="•"/>
            </a:pPr>
            <a:r>
              <a:rPr lang="en-US" sz="1600" dirty="0">
                <a:solidFill>
                  <a:srgbClr val="111827"/>
                </a:solidFill>
                <a:latin typeface="Calibri" pitchFamily="34" charset="0"/>
                <a:ea typeface="Calibri" pitchFamily="34" charset="-122"/>
                <a:cs typeface="Calibri" pitchFamily="34" charset="-120"/>
              </a:rPr>
              <a:t>Privacy: dataset is anonymized (no PII).</a:t>
            </a:r>
            <a:endParaRPr lang="en-US" sz="1600" dirty="0"/>
          </a:p>
          <a:p>
            <a:pPr marL="228600" indent="-228600">
              <a:spcAft>
                <a:spcPts val="600"/>
              </a:spcAft>
              <a:buSzPct val="100000"/>
              <a:buChar char="•"/>
            </a:pPr>
            <a:r>
              <a:rPr lang="en-US" sz="1600" dirty="0">
                <a:solidFill>
                  <a:srgbClr val="111827"/>
                </a:solidFill>
                <a:latin typeface="Calibri" pitchFamily="34" charset="0"/>
                <a:ea typeface="Calibri" pitchFamily="34" charset="-122"/>
                <a:cs typeface="Calibri" pitchFamily="34" charset="-120"/>
              </a:rPr>
              <a:t>Bias risk: limited representativeness may affect fairness.</a:t>
            </a:r>
            <a:endParaRPr lang="en-US" sz="1600" dirty="0"/>
          </a:p>
          <a:p>
            <a:pPr marL="228600" indent="-228600">
              <a:spcAft>
                <a:spcPts val="600"/>
              </a:spcAft>
              <a:buSzPct val="100000"/>
              <a:buChar char="•"/>
            </a:pPr>
            <a:r>
              <a:rPr lang="en-US" sz="1600" dirty="0">
                <a:solidFill>
                  <a:srgbClr val="111827"/>
                </a:solidFill>
                <a:latin typeface="Calibri" pitchFamily="34" charset="0"/>
                <a:ea typeface="Calibri" pitchFamily="34" charset="-122"/>
                <a:cs typeface="Calibri" pitchFamily="34" charset="-120"/>
              </a:rPr>
              <a:t>Clinical use: support, not replace, clinician judgment.</a:t>
            </a:r>
            <a:endParaRPr lang="en-US" sz="1600" dirty="0"/>
          </a:p>
        </p:txBody>
      </p:sp>
      <p:sp>
        <p:nvSpPr>
          <p:cNvPr id="9" name="Shape 7"/>
          <p:cNvSpPr/>
          <p:nvPr/>
        </p:nvSpPr>
        <p:spPr>
          <a:xfrm>
            <a:off x="6583680" y="1143000"/>
            <a:ext cx="4937760" cy="5440680"/>
          </a:xfrm>
          <a:prstGeom prst="roundRect">
            <a:avLst/>
          </a:prstGeom>
          <a:solidFill>
            <a:srgbClr val="FFFFFF"/>
          </a:solidFill>
          <a:ln w="12700">
            <a:solidFill>
              <a:srgbClr val="D1D5DB"/>
            </a:solidFill>
            <a:prstDash val="solid"/>
          </a:ln>
          <a:effectLst>
            <a:outerShdw blurRad="38100" dist="25400" dir="2700000" algn="bl" rotWithShape="0">
              <a:srgbClr val="000000">
                <a:alpha val="12000"/>
              </a:srgbClr>
            </a:outerShdw>
          </a:effectLst>
        </p:spPr>
        <p:txBody>
          <a:bodyPr/>
          <a:lstStyle/>
          <a:p>
            <a:endParaRPr lang="en-US"/>
          </a:p>
        </p:txBody>
      </p:sp>
      <p:sp>
        <p:nvSpPr>
          <p:cNvPr id="10" name="Text 8"/>
          <p:cNvSpPr/>
          <p:nvPr/>
        </p:nvSpPr>
        <p:spPr>
          <a:xfrm>
            <a:off x="6858000" y="1417320"/>
            <a:ext cx="4480560" cy="365760"/>
          </a:xfrm>
          <a:prstGeom prst="rect">
            <a:avLst/>
          </a:prstGeom>
          <a:noFill/>
          <a:ln/>
        </p:spPr>
        <p:txBody>
          <a:bodyPr wrap="square" rtlCol="0" anchor="ctr"/>
          <a:lstStyle/>
          <a:p>
            <a:pPr marL="0" indent="0">
              <a:buNone/>
            </a:pPr>
            <a:r>
              <a:rPr lang="en-US" sz="2200" b="1" dirty="0">
                <a:solidFill>
                  <a:srgbClr val="2563EB"/>
                </a:solidFill>
                <a:latin typeface="Calibri" pitchFamily="34" charset="0"/>
                <a:ea typeface="Calibri" pitchFamily="34" charset="-122"/>
                <a:cs typeface="Calibri" pitchFamily="34" charset="-120"/>
              </a:rPr>
              <a:t>Key Takeaway</a:t>
            </a:r>
            <a:endParaRPr lang="en-US" sz="2200" dirty="0"/>
          </a:p>
        </p:txBody>
      </p:sp>
      <p:sp>
        <p:nvSpPr>
          <p:cNvPr id="11" name="Text 9"/>
          <p:cNvSpPr/>
          <p:nvPr/>
        </p:nvSpPr>
        <p:spPr>
          <a:xfrm>
            <a:off x="6858000" y="1874520"/>
            <a:ext cx="4480560" cy="1645920"/>
          </a:xfrm>
          <a:prstGeom prst="rect">
            <a:avLst/>
          </a:prstGeom>
          <a:noFill/>
          <a:ln/>
        </p:spPr>
        <p:txBody>
          <a:bodyPr wrap="square" rtlCol="0" anchor="ctr"/>
          <a:lstStyle/>
          <a:p>
            <a:pPr marL="0" indent="0">
              <a:buNone/>
            </a:pPr>
            <a:r>
              <a:rPr lang="en-US" sz="1600" dirty="0">
                <a:solidFill>
                  <a:srgbClr val="111827"/>
                </a:solidFill>
                <a:latin typeface="Calibri" pitchFamily="34" charset="0"/>
                <a:ea typeface="Calibri" pitchFamily="34" charset="-122"/>
                <a:cs typeface="Calibri" pitchFamily="34" charset="-120"/>
              </a:rPr>
              <a:t>Combining predictive models (SVM) with interpretable patterns (rules) yields strong performance and better explainability for healthcare decision support.</a:t>
            </a:r>
            <a:endParaRPr lang="en-US" sz="1600" dirty="0"/>
          </a:p>
        </p:txBody>
      </p:sp>
      <p:sp>
        <p:nvSpPr>
          <p:cNvPr id="12" name="Text 10"/>
          <p:cNvSpPr/>
          <p:nvPr/>
        </p:nvSpPr>
        <p:spPr>
          <a:xfrm>
            <a:off x="6858000" y="3749040"/>
            <a:ext cx="4480560" cy="914400"/>
          </a:xfrm>
          <a:prstGeom prst="rect">
            <a:avLst/>
          </a:prstGeom>
          <a:noFill/>
          <a:ln/>
        </p:spPr>
        <p:txBody>
          <a:bodyPr wrap="square" rtlCol="0" anchor="ctr"/>
          <a:lstStyle/>
          <a:p>
            <a:pPr marL="0" indent="0">
              <a:buNone/>
            </a:pPr>
            <a:r>
              <a:rPr lang="en-US" sz="1400" dirty="0">
                <a:solidFill>
                  <a:srgbClr val="374151"/>
                </a:solidFill>
                <a:latin typeface="Calibri" pitchFamily="34" charset="0"/>
                <a:ea typeface="Calibri" pitchFamily="34" charset="-122"/>
                <a:cs typeface="Calibri" pitchFamily="34" charset="-120"/>
              </a:rPr>
              <a:t>Future work: external validation, calibration, fairness audits, and robustness checks on real-world data.</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84</TotalTime>
  <Words>1321</Words>
  <Application>Microsoft Macintosh PowerPoint</Application>
  <PresentationFormat>Widescreen</PresentationFormat>
  <Paragraphs>112</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Aryan Shrestha</cp:lastModifiedBy>
  <cp:revision>2</cp:revision>
  <dcterms:created xsi:type="dcterms:W3CDTF">2025-12-14T19:01:54Z</dcterms:created>
  <dcterms:modified xsi:type="dcterms:W3CDTF">2025-12-14T20:40:45Z</dcterms:modified>
</cp:coreProperties>
</file>